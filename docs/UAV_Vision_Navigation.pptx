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enerated_hero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8611102" cy="4846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8FC2FF"/>
                </a:solidFill>
                <a:latin typeface="Segoe UI"/>
              </a:rPr>
              <a:t>VISION-ONLY UAV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035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Vision-only navigation &amp; target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669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FD8E3"/>
                </a:solidFill>
                <a:latin typeface="Segoe UI"/>
              </a:rPr>
              <a:t>Detect, track, self-localize and avoid — even when GPS is jammed.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6B4"/>
                </a:solidFill>
                <a:latin typeface="Segoe UI"/>
              </a:rPr>
              <a:t>Sim-validated in AirSim  ·  roadmap to real hardware (RealSense + Jetson)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02B2B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1B22"/>
                </a:solidFill>
                <a:latin typeface="Segoe UI"/>
              </a:rPr>
              <a:t>Why vision, not GPS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Segoe UI"/>
              </a:rPr>
              <a:t>2/10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61B22"/>
                </a:solidFill>
                <a:latin typeface="Segoe UI"/>
              </a:rPr>
              <a:t>•  GPS can be jammed or spoofed in contested airspace.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61B22"/>
                </a:solidFill>
                <a:latin typeface="Segoe UI"/>
              </a:rPr>
              <a:t>•  A GPS-reliant drone is effectively blind without it.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61B22"/>
                </a:solidFill>
                <a:latin typeface="Segoe UI"/>
              </a:rPr>
              <a:t>•  Our approach: navigate by what the camera sees.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61B22"/>
                </a:solidFill>
                <a:latin typeface="Segoe UI"/>
              </a:rPr>
              <a:t>•  One camera does two jobs — see the target, and know its own position.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61B22"/>
                </a:solidFill>
                <a:latin typeface="Segoe UI"/>
              </a:rPr>
              <a:t>•  Vision is the backup that cannot be jammed.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828800"/>
            <a:ext cx="3931920" cy="3291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05740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55F6B"/>
                </a:solidFill>
                <a:latin typeface="Segoe UI"/>
              </a:rPr>
              <a:t>GPS vs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560320"/>
            <a:ext cx="35661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02B2B"/>
                </a:solidFill>
                <a:latin typeface="Segoe UI"/>
              </a:rPr>
              <a:t>GPS  →  jammable, single point of failure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555F6B"/>
                </a:solidFill>
                <a:latin typeface="Segoe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7A44"/>
                </a:solidFill>
                <a:latin typeface="Segoe UI"/>
              </a:rPr>
              <a:t>VISION  →  passive, self-contained, jam-proof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6CB0"/>
                </a:solidFill>
                <a:latin typeface="Segoe UI"/>
              </a:rPr>
              <a:t>SYSTEM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1B22"/>
                </a:solidFill>
                <a:latin typeface="Segoe UI"/>
              </a:rPr>
              <a:t>How it works,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Segoe UI"/>
              </a:rPr>
              <a:t>3/10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1993392" cy="1463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993392" cy="1097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19933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61B22"/>
                </a:solidFill>
                <a:latin typeface="Segoe UI"/>
              </a:rPr>
              <a:t>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1993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55F6B"/>
                </a:solidFill>
                <a:latin typeface="Segoe UI"/>
              </a:rPr>
              <a:t>detect + segment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6352" y="2377440"/>
            <a:ext cx="1993392" cy="1463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16352" y="2377440"/>
            <a:ext cx="1993392" cy="109728"/>
          </a:xfrm>
          <a:prstGeom prst="rect">
            <a:avLst/>
          </a:prstGeom>
          <a:solidFill>
            <a:srgbClr val="1F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2697480"/>
            <a:ext cx="19933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61B22"/>
                </a:solidFill>
                <a:latin typeface="Segoe UI"/>
              </a:rPr>
              <a:t>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3246120"/>
            <a:ext cx="1993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55F6B"/>
                </a:solidFill>
                <a:latin typeface="Segoe UI"/>
              </a:rPr>
              <a:t>lock + predict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2377440"/>
            <a:ext cx="1993392" cy="1463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92624" y="2377440"/>
            <a:ext cx="1993392" cy="1097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92624" y="2697480"/>
            <a:ext cx="19933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61B22"/>
                </a:solidFill>
                <a:latin typeface="Segoe UI"/>
              </a:rPr>
              <a:t>LOCATE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3246120"/>
            <a:ext cx="1993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55F6B"/>
                </a:solidFill>
                <a:latin typeface="Segoe UI"/>
              </a:rPr>
              <a:t>VIO self-position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8896" y="2377440"/>
            <a:ext cx="1993392" cy="1463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68896" y="2377440"/>
            <a:ext cx="1993392" cy="109728"/>
          </a:xfrm>
          <a:prstGeom prst="rect">
            <a:avLst/>
          </a:prstGeom>
          <a:solidFill>
            <a:srgbClr val="B5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8896" y="2697480"/>
            <a:ext cx="19933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61B22"/>
                </a:solidFill>
                <a:latin typeface="Segoe UI"/>
              </a:rPr>
              <a:t>AVOID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3246120"/>
            <a:ext cx="1993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55F6B"/>
                </a:solidFill>
                <a:latin typeface="Segoe UI"/>
              </a:rPr>
              <a:t>depth steering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45168" y="2377440"/>
            <a:ext cx="1993392" cy="1463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45168" y="2377440"/>
            <a:ext cx="1993392" cy="109728"/>
          </a:xfrm>
          <a:prstGeom prst="rect">
            <a:avLst/>
          </a:prstGeom>
          <a:solidFill>
            <a:srgbClr val="1F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5168" y="2697480"/>
            <a:ext cx="19933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61B22"/>
                </a:solidFill>
                <a:latin typeface="Segoe UI"/>
              </a:rPr>
              <a:t>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3246120"/>
            <a:ext cx="1993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55F6B"/>
                </a:solidFill>
                <a:latin typeface="Segoe UI"/>
              </a:rPr>
              <a:t>follow + fly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55F6B"/>
                </a:solidFill>
                <a:latin typeface="Segoe UI"/>
              </a:rPr>
              <a:t>One camera feed splits into two pipelines: tracking OTHERS (detect + follow the target) and locating SELF (visual-inertial odometry). They share pixels, run independently.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6CB0"/>
                </a:solidFill>
                <a:latin typeface="Segoe UI"/>
              </a:rPr>
              <a:t>PERCEPTION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1B22"/>
                </a:solidFill>
                <a:latin typeface="Segoe UI"/>
              </a:rPr>
              <a:t>Seeing the target — on real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Segoe UI"/>
              </a:rPr>
              <a:t>4/10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2"/>
                </a:solidFill>
                <a:latin typeface="Segoe UI"/>
              </a:rPr>
              <a:t>•  YOLO26 detector + instance segmentation.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2"/>
                </a:solidFill>
                <a:latin typeface="Segoe UI"/>
              </a:rPr>
              <a:t>•  Two classes: drone target + bird (false-lock filter).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2"/>
                </a:solidFill>
                <a:latin typeface="Segoe UI"/>
              </a:rPr>
              <a:t>•  Trained on ~56k real + synthetic images (Shahed, Mjolnir, AirSim).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2"/>
                </a:solidFill>
                <a:latin typeface="Segoe UI"/>
              </a:rPr>
              <a:t>•  Real held-out mAP50 ≈ 0.77 and climbing.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2"/>
                </a:solidFill>
                <a:latin typeface="Segoe UI"/>
              </a:rPr>
              <a:t>•  Boxes below are our model on unseen real frames.</a:t>
            </a:r>
          </a:p>
        </p:txBody>
      </p:sp>
      <p:pic>
        <p:nvPicPr>
          <p:cNvPr id="8" name="Picture 7" descr="det_real_0_shah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3200400" cy="1828800"/>
          </a:xfrm>
          <a:prstGeom prst="rect">
            <a:avLst/>
          </a:prstGeom>
        </p:spPr>
      </p:pic>
      <p:pic>
        <p:nvPicPr>
          <p:cNvPr id="9" name="Picture 8" descr="det_real_1_shah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737360"/>
            <a:ext cx="3200400" cy="1828800"/>
          </a:xfrm>
          <a:prstGeom prst="rect">
            <a:avLst/>
          </a:prstGeom>
        </p:spPr>
      </p:pic>
      <p:pic>
        <p:nvPicPr>
          <p:cNvPr id="10" name="Picture 9" descr="det_real_2_shah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749040"/>
            <a:ext cx="3200400" cy="1828800"/>
          </a:xfrm>
          <a:prstGeom prst="rect">
            <a:avLst/>
          </a:prstGeom>
        </p:spPr>
      </p:pic>
      <p:pic>
        <p:nvPicPr>
          <p:cNvPr id="11" name="Picture 10" descr="det_real_3_shah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3749040"/>
            <a:ext cx="32004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44"/>
                </a:solidFill>
                <a:latin typeface="Segoe UI"/>
              </a:rPr>
              <a:t>TRAINING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1B22"/>
                </a:solidFill>
                <a:latin typeface="Segoe UI"/>
              </a:rPr>
              <a:t>How it learns — and how we prove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Segoe UI"/>
              </a:rPr>
              <a:t>5/10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161B22"/>
                </a:solidFill>
                <a:latin typeface="Segoe UI"/>
              </a:rPr>
              <a:t>•  Learns from real + simulated drone footage.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61B22"/>
                </a:solidFill>
                <a:latin typeface="Segoe UI"/>
              </a:rPr>
              <a:t>•  Segmentation outlines the exact target; filtering drops birds, clutter, shadows.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61B22"/>
                </a:solidFill>
                <a:latin typeface="Segoe UI"/>
              </a:rPr>
              <a:t>•  Guidance is learned by imitating the classical expert, then improved with reinforcement learning (hybrid).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61B22"/>
                </a:solidFill>
                <a:latin typeface="Segoe UI"/>
              </a:rPr>
              <a:t>•  Tested across orbit, zigzag, weave, climb and dive maneuvers in simulation.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61B22"/>
                </a:solidFill>
                <a:latin typeface="Segoe UI"/>
              </a:rPr>
              <a:t>•  Imitation policy keeps the target in frame ~100% (sim); RL tightens the stand-off hold.</a:t>
            </a:r>
          </a:p>
        </p:txBody>
      </p:sp>
      <p:pic>
        <p:nvPicPr>
          <p:cNvPr id="8" name="Picture 7" descr="key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20240"/>
            <a:ext cx="4114800" cy="23145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5120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55F6B"/>
                </a:solidFill>
                <a:latin typeface="Segoe UI"/>
              </a:rPr>
              <a:t>data → segmentation → filter → imitate → RL → sim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6CB0"/>
                </a:solidFill>
                <a:latin typeface="Segoe UI"/>
              </a:rPr>
              <a:t>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1B22"/>
                </a:solidFill>
                <a:latin typeface="Segoe UI"/>
              </a:rPr>
              <a:t>Target following — live web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Segoe UI"/>
              </a:rPr>
              <a:t>6/10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61B22"/>
                </a:solidFill>
                <a:latin typeface="Segoe UI"/>
              </a:rPr>
              <a:t>•  Click-to-lock the target in the live web UI.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61B22"/>
                </a:solidFill>
                <a:latin typeface="Segoe UI"/>
              </a:rPr>
              <a:t>•  Predicts motion (Kalman), coasts through detection drop-outs.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61B22"/>
                </a:solidFill>
                <a:latin typeface="Segoe UI"/>
              </a:rPr>
              <a:t>•  Holds a set stand-off distance, no spin.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61B22"/>
                </a:solidFill>
                <a:latin typeface="Segoe UI"/>
              </a:rPr>
              <a:t>•  Kept in frame ~90%+ vision-only.</a:t>
            </a:r>
          </a:p>
        </p:txBody>
      </p:sp>
      <p:pic>
        <p:nvPicPr>
          <p:cNvPr id="8" name="Picture 7" descr="track_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6400800" cy="3600450"/>
          </a:xfrm>
          <a:prstGeom prst="rect">
            <a:avLst/>
          </a:prstGeom>
        </p:spPr>
      </p:pic>
      <p:pic>
        <p:nvPicPr>
          <p:cNvPr id="9" name="Picture 8" descr="track_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200400"/>
            <a:ext cx="6400800" cy="3600450"/>
          </a:xfrm>
          <a:prstGeom prst="rect">
            <a:avLst/>
          </a:prstGeom>
        </p:spPr>
      </p:pic>
      <p:pic>
        <p:nvPicPr>
          <p:cNvPr id="10" name="Picture 9" descr="track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70916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6CB0"/>
                </a:solidFill>
                <a:latin typeface="Segoe UI"/>
              </a:rPr>
              <a:t>SELF-LOCALIZATION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1B22"/>
                </a:solidFill>
                <a:latin typeface="Segoe UI"/>
              </a:rPr>
              <a:t>VIO / VINS · depth · SLAM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Segoe UI"/>
              </a:rPr>
              <a:t>7/10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161B22"/>
                </a:solidFill>
                <a:latin typeface="Segoe UI"/>
              </a:rPr>
              <a:t>•  Camera + IMU estimate the drone's own position with no GPS (visual-inertial odometry).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61B22"/>
                </a:solidFill>
                <a:latin typeface="Segoe UI"/>
              </a:rPr>
              <a:t>•  Depth camera gives true distance and a live 3D sense of the scene.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61B22"/>
                </a:solidFill>
                <a:latin typeface="Segoe UI"/>
              </a:rPr>
              <a:t>•  Place recognition (SLAM-style) corrects accumulated drift.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61B22"/>
                </a:solidFill>
                <a:latin typeface="Segoe UI"/>
              </a:rPr>
              <a:t>•  Magnetometer bounds heading drift.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61B22"/>
                </a:solidFill>
                <a:latin typeface="Segoe UI"/>
              </a:rPr>
              <a:t>•  Production path: OpenVINS (MSCKF) — target under 1 m drift, fed to PX4 EKF2.</a:t>
            </a:r>
          </a:p>
        </p:txBody>
      </p:sp>
      <p:pic>
        <p:nvPicPr>
          <p:cNvPr id="8" name="Picture 7" descr="key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20240"/>
            <a:ext cx="4023360" cy="22631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5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7A12"/>
                </a:solidFill>
                <a:latin typeface="Segoe UI"/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1B22"/>
                </a:solidFill>
                <a:latin typeface="Segoe UI"/>
              </a:rPr>
              <a:t>Obstacle avoidance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Segoe UI"/>
              </a:rPr>
              <a:t>8/10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61B22"/>
                </a:solidFill>
                <a:latin typeface="Segoe UI"/>
              </a:rPr>
              <a:t>•  Depth is read like a wall of distances (depth-as-LiDAR).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61B22"/>
                </a:solidFill>
                <a:latin typeface="Segoe UI"/>
              </a:rPr>
              <a:t>•  The drone steers around whatever is close.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61B22"/>
                </a:solidFill>
                <a:latin typeface="Segoe UI"/>
              </a:rPr>
              <a:t>•  It keeps chasing and framing the target while it dodges.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61B22"/>
                </a:solidFill>
                <a:latin typeface="Segoe UI"/>
              </a:rPr>
              <a:t>•  Reactive — runs onboard, no map needed.</a:t>
            </a:r>
          </a:p>
        </p:txBody>
      </p:sp>
      <p:pic>
        <p:nvPicPr>
          <p:cNvPr id="8" name="Picture 7" descr="key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20240"/>
            <a:ext cx="4023360" cy="22631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6CB0"/>
                </a:solidFill>
                <a:latin typeface="Segoe UI"/>
              </a:rP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1B22"/>
                </a:solidFill>
                <a:latin typeface="Segoe UI"/>
              </a:rPr>
              <a:t>Where it's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Segoe UI"/>
              </a:rPr>
              <a:t>9/10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49240" cy="4297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349240" cy="118872"/>
          </a:xfrm>
          <a:prstGeom prst="rect">
            <a:avLst/>
          </a:prstGeom>
          <a:solidFill>
            <a:srgbClr val="1F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7A44"/>
                </a:solidFill>
                <a:latin typeface="Segoe UI"/>
              </a:rPr>
              <a:t>COMMERCIAL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61B22"/>
                </a:solidFill>
                <a:latin typeface="Segoe UI"/>
              </a:rPr>
              <a:t>•  Cinematography / follow-me filming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2"/>
                </a:solidFill>
                <a:latin typeface="Segoe UI"/>
              </a:rPr>
              <a:t>•  Infrastructure inspection in GPS-poor sites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2"/>
                </a:solidFill>
                <a:latin typeface="Segoe UI"/>
              </a:rPr>
              <a:t>•  Search &amp; rescue in canyons / indoors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2"/>
                </a:solidFill>
                <a:latin typeface="Segoe UI"/>
              </a:rPr>
              <a:t>•  Warehouse &amp; indoor inventory drones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2"/>
                </a:solidFill>
                <a:latin typeface="Segoe UI"/>
              </a:rPr>
              <a:t>•  Agriculture &amp; survey, delivery in urban canyons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5349240" cy="4297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37360"/>
            <a:ext cx="5349240" cy="118872"/>
          </a:xfrm>
          <a:prstGeom prst="rect">
            <a:avLst/>
          </a:prstGeom>
          <a:solidFill>
            <a:srgbClr val="B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02B2B"/>
                </a:solidFill>
                <a:latin typeface="Segoe UI"/>
              </a:rPr>
              <a:t>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61B22"/>
                </a:solidFill>
                <a:latin typeface="Segoe UI"/>
              </a:rPr>
              <a:t>•  Counter-UAS / anti-Shahed interception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2"/>
                </a:solidFill>
                <a:latin typeface="Segoe UI"/>
              </a:rPr>
              <a:t>•  ISR in GPS-denied / jammed airspace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2"/>
                </a:solidFill>
                <a:latin typeface="Segoe UI"/>
              </a:rPr>
              <a:t>•  Convoy overwatch &amp; perimeter security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2"/>
                </a:solidFill>
                <a:latin typeface="Segoe UI"/>
              </a:rPr>
              <a:t>•  Contested-airspace navigation &amp; strike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61B22"/>
                </a:solidFill>
                <a:latin typeface="Segoe UI"/>
              </a:rPr>
              <a:t>•  Comms-denied autonomous missions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B6CB0"/>
                </a:solidFill>
                <a:latin typeface="Segoe U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1B22"/>
                </a:solidFill>
                <a:latin typeface="Segoe UI"/>
              </a:rPr>
              <a:t>Status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Segoe UI"/>
              </a:rPr>
              <a:t>10/10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61B22"/>
                </a:solidFill>
                <a:latin typeface="Segoe UI"/>
              </a:rPr>
              <a:t>•  Vision-only detect → track → follow validated in AirSim simulation.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61B22"/>
                </a:solidFill>
                <a:latin typeface="Segoe UI"/>
              </a:rPr>
              <a:t>•  Detector now trained on real air-to-air data (Shahed / Mjolnir) for real-world transfer.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61B22"/>
                </a:solidFill>
                <a:latin typeface="Segoe UI"/>
              </a:rPr>
              <a:t>•  Guidance policy: imitation of the classical expert, then RL fine-tune (hybrid).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61B22"/>
                </a:solidFill>
                <a:latin typeface="Segoe UI"/>
              </a:rPr>
              <a:t>•  Sim-to-real: the SAME software, swap the sensor — RealSense D455 + Jetson Orin.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61B22"/>
                </a:solidFill>
                <a:latin typeface="Segoe UI"/>
              </a:rPr>
              <a:t>•  Next: OpenVINS VIO → PX4 EKF2 for GPS-denied flight; lightweight agentic supervisor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The eye is the backup that can't be jammed.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